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Inter"/>
              </a:defRPr>
            </a:pPr>
            <a:r>
              <a:t>Raku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EC0"/>
                </a:solidFill>
                <a:latin typeface="Yu Gothic"/>
              </a:defRPr>
            </a:pPr>
            <a:r>
              <a:t>楽天市場 食品カテゴリー専門 運用代行サービス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サービス紹介資料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8096"/>
                </a:solidFill>
                <a:latin typeface="Yu Gothic"/>
              </a:defRPr>
            </a:pPr>
            <a:r>
              <a:t>freeks株式会社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Yu Gothic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楽天市場の運用、こんなことで困っていませんか？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2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売れる商品ページの作り方がわからない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何を改善すれば転換率が上がるのかが見えない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広告の費用対効果が見えない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広告費ばかりかかって利益が出ない状態が続いている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イベントで売上を上げるノウハウがない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スーパーSALE・マラソンの準備が間に合わない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検索順位が上がらない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アルゴリズムやSEOの知識がなく、対策が打てない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2336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競合との差分がわからない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何が違うのか分析する方法がわからない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運用まで手が回らない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仕入れ・製造・発送に追われ、EC運用が後回しに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現在の選択肢と、その限界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自力運用・社員雇用・汎用代行会社、それぞれに課題があります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3017520" cy="64008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Yu Gothic"/>
              </a:defRPr>
            </a:pPr>
            <a:r>
              <a:t>❌  自力運用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時間がない（本業に集中できない）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89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専門知識が不足している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最新のアルゴリズム変更に対応できない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イベント準備が追いつかない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91640"/>
            <a:ext cx="3017520" cy="64008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Yu Gothic"/>
              </a:defRPr>
            </a:pPr>
            <a:r>
              <a:t>❌  社員雇用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人件費 月額30万円〜（社保含む）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289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採用・教育・マネジメントコスト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退職リスク（ノウハウが属人化）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983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楽天専門人材の確保が困難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5448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1691640"/>
            <a:ext cx="3017520" cy="64008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Yu Gothic"/>
              </a:defRPr>
            </a:pPr>
            <a:r>
              <a:t>❌  汎用EC代行会社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月額20〜50万円と高額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4289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食品カテゴリーのノウハウがない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アドバイスのみで実行は別料金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983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• 年単位の長期契約が前提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▼  これらの課題をすべて解決するのが Raku UP 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Raku UP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楽天市場の食品カテゴリーに完全特化した運用代行サービス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Yu Gothic"/>
              </a:defRPr>
            </a:pPr>
            <a:r>
              <a:t>アドバイスだけではなく、戦略立案から施策の実行まで全てプロが代行します。</a:t>
            </a:r>
            <a:br/>
            <a:r>
              <a:t>店舗オーナー様は、商品の仕入れ・製造・発送など本業に集中していただけます。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2222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749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8C42"/>
                </a:solidFill>
                <a:latin typeface="Inter"/>
              </a:defRPr>
            </a:pPr>
            <a:r>
              <a:t>30社+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Yu Gothic"/>
              </a:defRPr>
            </a:pPr>
            <a:r>
              <a:t>運用代行実績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47472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2222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749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8C42"/>
                </a:solidFill>
                <a:latin typeface="Inter"/>
              </a:defRPr>
            </a:pPr>
            <a:r>
              <a:t>500%以上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Yu Gothic"/>
              </a:defRPr>
            </a:pPr>
            <a:r>
              <a:t>平均売上伸長率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7472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2222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49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8C42"/>
                </a:solidFill>
                <a:latin typeface="Inter"/>
              </a:defRPr>
            </a:pPr>
            <a:r>
              <a:t>3〜6か月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Yu Gothic"/>
              </a:defRPr>
            </a:pPr>
            <a:r>
              <a:t>成果実感の目安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私たちの強み ① — 楽天市場 × 食品に完全特化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5 / 17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元楽天ECコンサルタント（楽天株式会社出身）が複数在籍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楽天の内部ロジック・評価基準を熟知しています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食品カテゴリーを 5年間専任 で担当してきたプロチーム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食品ならではの季節性・賞味期限管理・イベント特性に精通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1480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RMS操作・RPP広告・定期購入・LINE運用まで全て対応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食品特有の課題を理解しているからこそ的確な提案が可能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349240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30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汎用的な代行会社とは異なる「食品の成功パターン」を保有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669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梅干し・こんにゃく・お茶など多様な食品ジャンルでの実績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私たちの強み ② — 実行まで全てやります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「アドバイスだけ」のコンサルとは違います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3017520" cy="50292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Yu Gothi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一般的なコンサル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554480"/>
            <a:ext cx="301752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Raku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4884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戦略立案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4884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◯  提案のみ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48840"/>
            <a:ext cx="3017520" cy="5486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提案＋実行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7889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862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商品ページ制作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7889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62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✕  自社で対応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788920"/>
            <a:ext cx="3017520" cy="548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862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プロが制作代行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42900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広告運用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42900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△  アドバイスのみ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429000"/>
            <a:ext cx="3017520" cy="5486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設定〜最適化まで代行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069079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41422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イベント対応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069079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1422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△  指示出し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069079"/>
            <a:ext cx="3017520" cy="548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1422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企画〜当日運用まで代行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470916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8760" y="4782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LINE運用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709160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4782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✕  範囲外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709160"/>
            <a:ext cx="3017520" cy="5486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782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配信設計〜実行まで代行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34924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08760" y="54223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月次報告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34924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54223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◯  レポートのみ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5349240"/>
            <a:ext cx="3017520" cy="548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54223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報告＋改善実行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5989319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606247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質問対応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5989319"/>
            <a:ext cx="3017520" cy="548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606247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Yu Gothic"/>
              </a:defRPr>
            </a:pPr>
            <a:r>
              <a:t>△  月数回まで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5989319"/>
            <a:ext cx="3017520" cy="5486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606247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◎  いつでも無制限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サービス内容一覧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月額5万円〜で、以下すべてのサービスが含まれます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市場・競合</a:t>
            </a:r>
            <a:br/>
            <a:r>
              <a:t>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市場トレンド把握</a:t>
            </a:r>
            <a:br/>
            <a:r>
              <a:t>競合の価格・施策調査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店舗分析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売上・アクセス・転換率の</a:t>
            </a:r>
            <a:br/>
            <a:r>
              <a:t>データ分析と改善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戦略策定</a:t>
            </a:r>
            <a:br/>
            <a:r>
              <a:t>・実行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月次の販売戦略立案と</a:t>
            </a:r>
            <a:br/>
            <a:r>
              <a:t>全施策の一貫した実行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40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広告運用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RPP・CPA広告の設定</a:t>
            </a:r>
            <a:br/>
            <a:r>
              <a:t>最適化・ROAS改善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画像・</a:t>
            </a:r>
            <a:br/>
            <a:r>
              <a:t>ページ制作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サムネイル・バナー</a:t>
            </a:r>
            <a:br/>
            <a:r>
              <a:t>商品ページLP制作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14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LINE運用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486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友だち獲得施策</a:t>
            </a:r>
            <a:br/>
            <a:r>
              <a:t>配信設計・クーポン施策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イベント</a:t>
            </a:r>
            <a:br/>
            <a:r>
              <a:t>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SS・マラソンの企画</a:t>
            </a:r>
            <a:br/>
            <a:r>
              <a:t>〜当日まで完全代行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114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Yu Gothic"/>
              </a:defRPr>
            </a:pPr>
            <a:r>
              <a:t>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Yu Gothic"/>
              </a:defRPr>
            </a:pPr>
            <a:r>
              <a:t>質問</a:t>
            </a:r>
            <a:br/>
            <a:r>
              <a:t>無制限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486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Yu Gothic"/>
              </a:defRPr>
            </a:pPr>
            <a:r>
              <a:t>チャット・メールで</a:t>
            </a:r>
            <a:br/>
            <a:r>
              <a:t>いつでも相談OK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成功事例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梅干し専門店（九州）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8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5568"/>
                </a:solidFill>
                <a:latin typeface="Yu Gothic"/>
              </a:defRPr>
            </a:pPr>
            <a:r>
              <a:t>月商 3万円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Yu Gothic"/>
              </a:defRPr>
            </a:pPr>
            <a:r>
              <a:t>月商 1,000万円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584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契約開始から 6か月 で達成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取り組み内容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商品名SEO最適化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LP訴求強化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定期購入新設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RPP広告最適化（ROAS 280%→420%）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成功事例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こんにゃく・もつ煮の専門店（関東）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5568"/>
                </a:solidFill>
                <a:latin typeface="Yu Gothic"/>
              </a:defRPr>
            </a:pPr>
            <a:r>
              <a:t>月商 5万円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Yu Gothic"/>
              </a:defRPr>
            </a:pPr>
            <a:r>
              <a:t>月商 100万円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584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契約開始から 3か月 で達成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取り組み内容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ターゲット再定義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商品ページリニューアル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レビュー収集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SS対策・LTV向上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成功事例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お茶専門店（中部）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5568"/>
                </a:solidFill>
                <a:latin typeface="Yu Gothic"/>
              </a:defRPr>
            </a:pPr>
            <a:r>
              <a:t>月商 80万円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3946"/>
                </a:solidFill>
                <a:latin typeface="Yu Gothic"/>
              </a:defRPr>
            </a:pPr>
            <a:r>
              <a:t>月商 350万円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3657600" cy="4114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584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契約開始から 5か月 で達成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取り組み内容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定期購入移行促進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サブスク新設計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同梱物刷新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Yu Gothic"/>
              </a:defRPr>
            </a:pPr>
            <a:r>
              <a:t>✓  LINE運用開始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運用代行で、こう変わります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11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Yu Gothic"/>
              </a:defRPr>
            </a:pPr>
            <a:r>
              <a:t>商品ページの更新が後回し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プロが毎月最適化、転換率UP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Yu Gothic"/>
              </a:defRPr>
            </a:pPr>
            <a:r>
              <a:t>広告費ばかりかかって利益が出ない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432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ROAS改善で広告費を抑えて売上UP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Yu Gothic"/>
              </a:defRPr>
            </a:pPr>
            <a:r>
              <a:t>イベント準備が間に合わない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02336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069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事前計画〜当日対応まで全て代行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19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492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8096"/>
                </a:solidFill>
                <a:latin typeface="Yu Gothic"/>
              </a:defRPr>
            </a:pPr>
            <a: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Yu Gothic"/>
              </a:defRPr>
            </a:pPr>
            <a:r>
              <a:t>本業に集中できない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4406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303519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EF0F0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53492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3946"/>
                </a:solidFill>
                <a:latin typeface="Yu Gothic"/>
              </a:defRPr>
            </a:pPr>
            <a:r>
              <a:t>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6235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楽天市場運用は丸投げ、本業に専念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ご利用中のお客様の声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12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漬物専門店・Aさん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8096"/>
                </a:solidFill>
                <a:latin typeface="Yu Gothic"/>
              </a:defRPr>
            </a:pPr>
            <a:r>
              <a:t>近畿・従業員3名 / 導入6か月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42"/>
                </a:solidFill>
                <a:latin typeface="Yu Gothic"/>
              </a:defRPr>
            </a:pPr>
            <a:r>
              <a:t>★★★★★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正直、最初は月額5万円でどこまでやってくれるのか半信半疑でした。</a:t>
            </a:r>
            <a:br/>
            <a:r>
              <a:t>でも1か月目から商品ページが見違えるようになり、売上も右肩上がりに。</a:t>
            </a:r>
            <a:br/>
            <a:r>
              <a:t>今では楽天の運用は完全にお任せして、新商品の開発に集中できています。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健康食品専門店・Bさん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8096"/>
                </a:solidFill>
                <a:latin typeface="Yu Gothic"/>
              </a:defRPr>
            </a:pPr>
            <a:r>
              <a:t>関東・従業員8名 / 導入8か月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42"/>
                </a:solidFill>
                <a:latin typeface="Yu Gothic"/>
              </a:defRPr>
            </a:pPr>
            <a:r>
              <a:t>★★★★☆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以前は大手の代行会社に月額20万円払っていましたが、正直あまり成果が</a:t>
            </a:r>
            <a:br/>
            <a:r>
              <a:t>出ませんでした。こちらに切り替えてからは、食品に特化しているだけ</a:t>
            </a:r>
            <a:br/>
            <a:r>
              <a:t>あって提案が的確。月額コストも大幅に下がり、売上も着実に伸びています。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Yu Gothic"/>
              </a:defRPr>
            </a:pPr>
            <a:r>
              <a:t>惣菜専門店・Cさん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8096"/>
                </a:solidFill>
                <a:latin typeface="Yu Gothic"/>
              </a:defRPr>
            </a:pPr>
            <a:r>
              <a:t>関東・夫婦で運営 / 導入4か月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42"/>
                </a:solidFill>
                <a:latin typeface="Yu Gothic"/>
              </a:defRPr>
            </a:pPr>
            <a:r>
              <a:t>★★★★★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夫婦二人で仕入れから発送まで全部やっていて、楽天の運用まで</a:t>
            </a:r>
            <a:br/>
            <a:r>
              <a:t>手が回りませんでした。代行を頼んでからは、イベント対応も広告も</a:t>
            </a:r>
            <a:br/>
            <a:r>
              <a:t>全部やってくれるので本当に助かっています。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ご契約の流れ（3ステップ）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13 / 17</a:t>
            </a:r>
          </a:p>
        </p:txBody>
      </p:sp>
      <p:sp>
        <p:nvSpPr>
          <p:cNvPr id="5" name="Oval 4"/>
          <p:cNvSpPr/>
          <p:nvPr/>
        </p:nvSpPr>
        <p:spPr>
          <a:xfrm>
            <a:off x="1920240" y="155448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3946"/>
                </a:solidFill>
                <a:latin typeface="Yu Gothic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ヒアリング・現状分析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貴社の店舗を独自ノウハウで分析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競合店舗との比較レポートを作成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具体的な改善施策を3つ以上ご提案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0" y="155448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3946"/>
                </a:solidFill>
                <a:latin typeface="Yu Gothic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戦略立案・事業計画策定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店舗専用の改善施策と事業計画を策定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何をどう変えるか、期待効果を明示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目標売上と達成ロードマップを設計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63946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155448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3946"/>
                </a:solidFill>
                <a:latin typeface="Yu Gothic"/>
              </a:defRPr>
            </a:pPr>
            <a: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Yu Gothic"/>
              </a:defRPr>
            </a:pPr>
            <a:r>
              <a:t>運用代行スタート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プランに基づき全ての施策をプロが実行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月次で進捗報告、いつでもチャットで質問OK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Yu Gothic"/>
              </a:defRPr>
            </a:pPr>
            <a:r>
              <a:t>✓  最短2か月で成果を実感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  <a:latin typeface="Yu Gothic"/>
              </a:defRPr>
            </a:pPr>
            <a:r>
              <a:t>💡 契約期間は6か月（初期費用なし）。運用開始後、最短2か月で成果を実感いただけます。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他社との比較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14 /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9436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560320" cy="59436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大手EC代行A社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2560320" cy="59436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一般的な代行B社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371600"/>
            <a:ext cx="2560320" cy="5943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Raku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67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057400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167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50万円〜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67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20〜30万円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057400"/>
            <a:ext cx="2560320" cy="658368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167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5万円〜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07208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169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楽天特化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807208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9169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807208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169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807208"/>
            <a:ext cx="2560320" cy="65836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91693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57015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66674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食品特化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557015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66674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557015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66674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557015"/>
            <a:ext cx="2560320" cy="658368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66674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306824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16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施策実行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306824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4416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別料金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306824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416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一部のみ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4306824"/>
            <a:ext cx="2560320" cy="65836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4416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全て込み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056631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66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契約期間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5056631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5166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2年〜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056631"/>
            <a:ext cx="2560320" cy="658368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166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1年〜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5056631"/>
            <a:ext cx="2560320" cy="658368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51663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6か月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806440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916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質問対応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5806440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5916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月数回まで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806440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5916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Yu Gothic"/>
              </a:defRPr>
            </a:pPr>
            <a:r>
              <a:t>月数回まで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5806440"/>
            <a:ext cx="2560320" cy="65836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5916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  <a:latin typeface="Yu Gothic"/>
              </a:defRPr>
            </a:pPr>
            <a:r>
              <a:t>いつでも無制限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料金プラン（売上連動・ステップアップ型）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Yu Gothic"/>
              </a:defRPr>
            </a:pPr>
            <a:r>
              <a:t>店舗の成長（月商）に合わせて料金が変動する完全伴走型の料金体系です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PHASE 1（初期）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18096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Yu Gothic"/>
              </a:defRPr>
            </a:pPr>
            <a:r>
              <a:t>万円（税別）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42"/>
                </a:solidFill>
                <a:latin typeface="Yu Gothic"/>
              </a:defRPr>
            </a:pPr>
            <a:r>
              <a:t>月商30万円未満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00400"/>
            <a:ext cx="2743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店舗診断・現状分析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商品ページ改善・SEO最適化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事業計画・販売戦略の策定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RPP広告の初期設定・運用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54864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5046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👈 まずはここから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146304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39" y="1600200"/>
            <a:ext cx="3200400" cy="45720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PHASE 2（成長期）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18096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21031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Yu Gothic"/>
              </a:defRPr>
            </a:pPr>
            <a:r>
              <a:t>万円（税別）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42"/>
                </a:solidFill>
                <a:latin typeface="Yu Gothic"/>
              </a:defRPr>
            </a:pPr>
            <a:r>
              <a:t>月商30万円到達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39" y="3200400"/>
            <a:ext cx="2743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イベント対策（SS・マラソン）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広告運用の本格最適化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サムネイル・バナー制作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レビュー施策・転換率改善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146304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1600200"/>
            <a:ext cx="3200400" cy="457200"/>
          </a:xfrm>
          <a:prstGeom prst="rect">
            <a:avLst/>
          </a:prstGeom>
          <a:solidFill>
            <a:srgbClr val="EE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PHASE 3（拡大期）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18096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21031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3946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39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Yu Gothic"/>
              </a:defRPr>
            </a:pPr>
            <a:r>
              <a:t>万円〜（税別）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42"/>
                </a:solidFill>
                <a:latin typeface="Yu Gothic"/>
              </a:defRPr>
            </a:pPr>
            <a:r>
              <a:t>月商50万円到達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79" y="3200400"/>
            <a:ext cx="2743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39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LINE運用・リピーター育成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3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定期購入・サブスク設計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39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新商品の販売戦略立案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39" y="4892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✓  同梱物・CRM施策の最適化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3367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Yu Gothic"/>
              </a:defRPr>
            </a:pPr>
            <a:r>
              <a:t>初期費用なし  ｜  契約期間 6か月  ｜  成果の目安：最短2か月、平均3〜6か月  ｜  お支払い：銀行振込・クレジットカード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Yu Gothic"/>
              </a:defRPr>
            </a:pPr>
            <a:r>
              <a:t>よくあるご質問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16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月商が少なくても大丈夫ですか？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月商の制限はありません。月商3万円から始めて月商1,000万円になった事例もあります。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801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具体的に何を代行してくれますか？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1874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1920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商品ページ制作、広告運用、イベント対応、LINE運用など楽天運営業務を丸ごと代行します。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店舗オーナーは何をすればいいですか？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49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基本的には商品の仕入れ・製造・発送に集中いただければOKです。楽天の運用は全てお任せください。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1089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食品以外でも対応していますか？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3749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現在は食品カテゴリー専門です。ただしカテゴリーによっては対応可能な場合もございますのでご相談ください。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地方の小規模事業者ですが大丈夫ですか？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77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大歓迎です。全てオンラインで完結します。必要に応じて訪問も対応可能です。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4937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39" y="5074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3946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Yu Gothic"/>
              </a:defRPr>
            </a:pPr>
            <a:r>
              <a:t>解約は簡単にできますか？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39" y="5532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79" y="5577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Yu Gothic"/>
              </a:defRPr>
            </a:pPr>
            <a:r>
              <a:t>解約希望月の前月末日までにご連絡ください。無理な引き留めはいたしません。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Yu Gothic"/>
              </a:defRPr>
            </a:pPr>
            <a:r>
              <a:t>17 /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楽天市場の運用は、</a:t>
            </a:r>
            <a:br/>
            <a:r>
              <a:t>プロにお任せください。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42"/>
                </a:solidFill>
                <a:latin typeface="Yu Gothic"/>
              </a:defRPr>
            </a:pPr>
            <a:r>
              <a:t>食品専門 × 元楽天ECコンサルタント × 月額5万円〜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まずはヒアリングから始めましょう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Yu Gothic"/>
              </a:defRPr>
            </a:pPr>
            <a:r>
              <a:t>freeks株式会社</a:t>
            </a:r>
            <a:br/>
            <a:r>
              <a:t>〒150-8510 東京都渋谷区渋谷2丁目21番1号 渋谷ヒカリエ 33F</a:t>
            </a:r>
            <a:br/>
            <a:r>
              <a:t>info@freeks.biz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